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972B4746-6FA0-42ED-A800-C97DFBA64DE3}">
          <p14:sldIdLst>
            <p14:sldId id="256"/>
            <p14:sldId id="257"/>
            <p14:sldId id="258"/>
          </p14:sldIdLst>
        </p14:section>
        <p14:section name="Untitled Section" id="{BD57B36C-1115-46FA-ACF2-2D0D3EAAC35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CDA81-DA29-91F9-7BBB-D959ED46B5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B94A58-F4EE-BC96-C6FD-0120DB09DD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79029-5998-E100-DB10-57A5FDFC5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853-DB13-47D1-A622-FF28E7209AA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4AF569-D0CD-1995-0D58-6E8833840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F94EC3-04B3-57D9-07BB-CBDA0FD0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22F4-379F-4592-A5C9-5D11D57BC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430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36F4-86C8-5ACF-84C7-901984480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E97FE-4D46-CBCF-E69F-3B73A650DC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63E013-5CA8-137D-54F2-FECD07341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853-DB13-47D1-A622-FF28E7209AA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25DD9-F1D7-FA03-C1EC-945C85A2E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11B44-5408-1A1F-C2F1-3FFFCE164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22F4-379F-4592-A5C9-5D11D57BC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96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4A5D2-3983-B393-45DE-F85BE230F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1218F-DA54-385C-F2FE-117C65744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75C0F-DB4E-C6AF-1B39-B5F832434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853-DB13-47D1-A622-FF28E7209AA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9CD6DD-36BD-AC7F-DE64-8DDFA713E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FCF0D-5744-3C39-B838-A9C31560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22F4-379F-4592-A5C9-5D11D57BC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967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0DF0B-6C5F-9F03-919A-6CF6E34CC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91EB7-2E58-3029-60D8-FF5D02B464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A98E84-33D5-9220-DBB7-39D1976510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8E8CA-B686-EA01-5EDC-E2FE6CA80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853-DB13-47D1-A622-FF28E7209AA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470EC-EA03-76FC-2361-B250E7CFA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18E1A-4214-A297-A537-E44EEF0B6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22F4-379F-4592-A5C9-5D11D57BC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05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D3622-F651-3E8C-FA2C-671A76F1A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54DAE-55A8-FAA8-923B-CDBEFA035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B50FA-7B96-2C7C-6D8B-FDBA1AC2B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C0C97D-3406-DBBD-A9CD-DC45460211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20E3DF-D80D-EBA0-1C6D-5A81E8A132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9B91E4-631F-90C3-6E0D-DC799B7C4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853-DB13-47D1-A622-FF28E7209AA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942C62-E339-7782-D2E2-7E2A97315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CBFCF7-68A2-FABC-17FE-8FA8901EA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22F4-379F-4592-A5C9-5D11D57BC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353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9B119-7334-6866-DE6B-7DB950A75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41860E-D310-DC42-D8A5-99568CEE3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853-DB13-47D1-A622-FF28E7209AA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4A4171-57F5-459A-5F1B-4F440C105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C706C8-2CB1-519D-F277-CD3F2151A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22F4-379F-4592-A5C9-5D11D57BC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527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4C7F9B-5813-6490-5B42-814449DC3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853-DB13-47D1-A622-FF28E7209AA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4E5C8D-C850-C329-CD14-FB8C6127A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7B61B-32B7-CB8B-5DC4-8CB6C90CD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22F4-379F-4592-A5C9-5D11D57BC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227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D08BE-F35A-D38F-5A68-12C50576B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AD1A76-50A6-48FF-2C62-274010A16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D04907-0A9F-3837-5F54-F59766A323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B74307-23AA-0BD8-297F-D8B0EF12A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853-DB13-47D1-A622-FF28E7209AA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2DEDCF-9320-F35F-7471-90BC71263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10AD4C-3C33-2279-57F4-1D3E45CA9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22F4-379F-4592-A5C9-5D11D57BC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145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6FEF5-1564-7549-2915-9325553F2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C819EF-30C2-442A-55B4-8864CB778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09010-9173-4842-435E-6016CC389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8271C3-9F0B-F46B-0DCD-BA2758AB5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853-DB13-47D1-A622-FF28E7209AA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0A6C92-8A54-1188-067D-1A5B2FD62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94370E-96A8-D9EC-68B2-D635C13C8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22F4-379F-4592-A5C9-5D11D57BC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252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E5833-6D54-6D2B-47E0-318861A4A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8A343A-7114-EF4B-CE2A-FA79F96445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01B97-ECDA-B1C8-A21D-A8D3AE1C6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853-DB13-47D1-A622-FF28E7209AA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B72323-E303-E3FD-2B6F-0996D4051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5079F1-A9A2-957C-1424-6FA7074DF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22F4-379F-4592-A5C9-5D11D57BC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87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9EDEFF-F2AC-6228-B2E4-6189121018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D6102-ADD5-7F0C-A62D-A94F3C0DF3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A97932-CB57-8A59-237E-005C05914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9E853-DB13-47D1-A622-FF28E7209AA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18AD4-18ED-77FD-C38A-4510C7C6C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54FCE6-1468-8867-6224-50BA3E747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522F4-379F-4592-A5C9-5D11D57BC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008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586A03-62A5-1158-614D-297D149C2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66721-32DC-5B2D-9855-E6F180DF2F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35091-88CB-8A82-9718-6292563502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9E853-DB13-47D1-A622-FF28E7209AA3}" type="datetimeFigureOut">
              <a:rPr lang="en-US" smtClean="0"/>
              <a:t>1/21/2026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12A2E1-D1CD-39E0-E752-287E0513F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31584-BB02-1451-E2A2-423484B26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5522F4-379F-4592-A5C9-5D11D57BCF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18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99205-848A-807D-6E72-A823C120C1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EXECUTIVE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A5075D-8C30-7E7F-DB28-0415D55633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POWER BI ANALYSIS</a:t>
            </a:r>
          </a:p>
          <a:p>
            <a:pPr marL="342900" indent="-342900">
              <a:buFontTx/>
              <a:buChar char="-"/>
            </a:pPr>
            <a:r>
              <a:rPr lang="en-US" dirty="0"/>
              <a:t>PRESENTED BY</a:t>
            </a:r>
          </a:p>
          <a:p>
            <a:r>
              <a:rPr lang="en-US" dirty="0"/>
              <a:t>          RICHA THAKUR</a:t>
            </a:r>
          </a:p>
        </p:txBody>
      </p:sp>
    </p:spTree>
    <p:extLst>
      <p:ext uri="{BB962C8B-B14F-4D97-AF65-F5344CB8AC3E}">
        <p14:creationId xmlns:p14="http://schemas.microsoft.com/office/powerpoint/2010/main" val="2210544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4542D-46AD-7697-7B51-B0A1A0F7F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marL="342900" marR="0" lvl="0" indent="-342900" fontAlgn="base">
              <a:lnSpc>
                <a:spcPct val="111000"/>
              </a:lnSpc>
              <a:spcBef>
                <a:spcPts val="0"/>
              </a:spcBef>
              <a:spcAft>
                <a:spcPts val="80"/>
              </a:spcAft>
            </a:pPr>
            <a:br>
              <a:rPr lang="en-US" sz="11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31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business problem is being solved using this data? </a:t>
            </a:r>
            <a:br>
              <a:rPr lang="en-US" sz="11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62864-AA77-5B65-9CD1-CB9D8BDF70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The objective of the analysis is to provide an executive level view of the sales performance, profitability and growth trends.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The dashboard also helps in understanding which products and countries are performing well and how discounts impact overall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2941894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1AF8D-B275-FAF5-9975-747B6C447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28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data was provided and at what level (granularity)? </a:t>
            </a:r>
            <a:br>
              <a:rPr lang="en-US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B5D74-C752-036B-49C8-C4EDCD0CDF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 </a:t>
            </a:r>
            <a:r>
              <a:rPr lang="en-US" sz="2400" dirty="0"/>
              <a:t>The dataset contains sales and profitability data across products, countries, and business segments.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dirty="0"/>
              <a:t> Data is recorded at a monthly level, with time attributes such as Month and Year.</a:t>
            </a:r>
          </a:p>
          <a:p>
            <a:pPr marL="0" indent="0" algn="just">
              <a:buNone/>
            </a:pPr>
            <a:endParaRPr lang="en-US" sz="2400" dirty="0"/>
          </a:p>
          <a:p>
            <a:pPr algn="just"/>
            <a:r>
              <a:rPr lang="en-US" sz="2400" dirty="0"/>
              <a:t> The dataset includes measures related to sales, costs, profit, and discounts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3610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60429-F18F-BE4A-5CB4-4F530AD9A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SUMMARY: KEY KPIs</a:t>
            </a:r>
            <a:br>
              <a:rPr lang="en-US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5D3C55-A329-DD66-4927-AEF3A533C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879797"/>
            <a:ext cx="9951093" cy="1098406"/>
          </a:xfrm>
        </p:spPr>
      </p:pic>
    </p:spTree>
    <p:extLst>
      <p:ext uri="{BB962C8B-B14F-4D97-AF65-F5344CB8AC3E}">
        <p14:creationId xmlns:p14="http://schemas.microsoft.com/office/powerpoint/2010/main" val="1975571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1D733-C8A2-3150-BBAC-B4C8E9C6F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these KPI?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D54FE-430F-13CD-D8C2-2060C6BA9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/>
          </a:bodyPr>
          <a:lstStyle/>
          <a:p>
            <a:r>
              <a:rPr lang="en-US" dirty="0"/>
              <a:t>Because these KPI provide a high level view of revenue performance, profitability, efficiency and growth.</a:t>
            </a:r>
          </a:p>
        </p:txBody>
      </p:sp>
    </p:spTree>
    <p:extLst>
      <p:ext uri="{BB962C8B-B14F-4D97-AF65-F5344CB8AC3E}">
        <p14:creationId xmlns:p14="http://schemas.microsoft.com/office/powerpoint/2010/main" val="2739060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04BFF-E1BD-EF9D-39A7-E584217D2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Dashboard Walkthrough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7A4A6-44FE-37C6-7DB0-74A120B8A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EXECUTIVE SUMMARY:</a:t>
            </a:r>
          </a:p>
          <a:p>
            <a:pPr marL="0" indent="0">
              <a:buNone/>
            </a:pPr>
            <a:r>
              <a:rPr lang="en-US" sz="2400" dirty="0"/>
              <a:t>This section provides a high level view of business performance using key metrics such as total sales, total profit , gross margins and </a:t>
            </a:r>
            <a:r>
              <a:rPr lang="en-US" sz="2400" dirty="0" err="1"/>
              <a:t>yoy</a:t>
            </a:r>
            <a:r>
              <a:rPr lang="en-US" sz="2400" dirty="0"/>
              <a:t> growth%</a:t>
            </a:r>
          </a:p>
          <a:p>
            <a:r>
              <a:rPr lang="en-US" sz="2400" dirty="0"/>
              <a:t>SALES AND PROFIT TREND</a:t>
            </a:r>
          </a:p>
          <a:p>
            <a:pPr marL="0" indent="0">
              <a:buNone/>
            </a:pPr>
            <a:r>
              <a:rPr lang="en-US" sz="2400" dirty="0"/>
              <a:t>This section shows monthly sales and profit trends , helping identify growth patterns, seasonality and overall business direction over time.</a:t>
            </a:r>
          </a:p>
          <a:p>
            <a:r>
              <a:rPr lang="en-US" sz="2400" dirty="0"/>
              <a:t>PRODUCT PERFORMANCE</a:t>
            </a:r>
          </a:p>
          <a:p>
            <a:pPr marL="0" indent="0">
              <a:buNone/>
            </a:pPr>
            <a:r>
              <a:rPr lang="en-US" sz="2400" dirty="0"/>
              <a:t>This section compares sales performance across products, highlighting high selling products and those requiring margin optimization.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53670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DDF9C-9F48-E229-94FF-217A94E17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Cont</a:t>
            </a:r>
            <a:r>
              <a:rPr lang="en-US" b="1" dirty="0"/>
              <a:t>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A5538-3D44-0AF7-7747-5D981B12C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94409" cy="3401468"/>
          </a:xfrm>
        </p:spPr>
        <p:txBody>
          <a:bodyPr/>
          <a:lstStyle/>
          <a:p>
            <a:r>
              <a:rPr lang="en-US" dirty="0"/>
              <a:t>COUNTRY PERFORMANCE</a:t>
            </a:r>
          </a:p>
          <a:p>
            <a:pPr marL="0" indent="0" algn="just">
              <a:buNone/>
            </a:pPr>
            <a:r>
              <a:rPr lang="en-US" sz="2400" dirty="0"/>
              <a:t>This section analyzes profitability by country to identify the most profitable markets and regions requiring strategic focus.</a:t>
            </a:r>
          </a:p>
          <a:p>
            <a:pPr marL="0" indent="0" algn="just">
              <a:buNone/>
            </a:pPr>
            <a:endParaRPr lang="en-US" sz="2400" dirty="0"/>
          </a:p>
          <a:p>
            <a:r>
              <a:rPr lang="en-US" dirty="0"/>
              <a:t>DISCOUNT IMPACT ANALYSIS</a:t>
            </a:r>
          </a:p>
          <a:p>
            <a:pPr marL="0" indent="0" algn="just">
              <a:buNone/>
            </a:pPr>
            <a:r>
              <a:rPr lang="en-US" sz="2400" dirty="0"/>
              <a:t>This section evaluates relationship between discounts and profit, helping us understand higher </a:t>
            </a:r>
            <a:r>
              <a:rPr lang="en-US" sz="2400" dirty="0" err="1"/>
              <a:t>disounts</a:t>
            </a:r>
            <a:r>
              <a:rPr lang="en-US" sz="2400" dirty="0"/>
              <a:t> are helping in improving profit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77656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6E5C1-55B2-D941-88A4-DCDF9D182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36D3D-4DE9-7ABC-23A4-F15F72E7C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25669" cy="3237694"/>
          </a:xfrm>
        </p:spPr>
        <p:txBody>
          <a:bodyPr/>
          <a:lstStyle/>
          <a:p>
            <a:pPr algn="just"/>
            <a:r>
              <a:rPr lang="en-US" dirty="0"/>
              <a:t>FRANCE  is the most profitable market.</a:t>
            </a:r>
          </a:p>
          <a:p>
            <a:pPr algn="just"/>
            <a:r>
              <a:rPr lang="en-US" dirty="0"/>
              <a:t>High sales doesn’t always mean high profit.</a:t>
            </a:r>
          </a:p>
          <a:p>
            <a:pPr algn="just"/>
            <a:r>
              <a:rPr lang="en-US" dirty="0"/>
              <a:t>Discounts do not consistently drive higher sales.</a:t>
            </a:r>
          </a:p>
          <a:p>
            <a:pPr algn="just"/>
            <a:r>
              <a:rPr lang="en-US" dirty="0"/>
              <a:t>VTT shows strong pricing power.</a:t>
            </a:r>
          </a:p>
          <a:p>
            <a:pPr algn="just"/>
            <a:r>
              <a:rPr lang="en-US" dirty="0"/>
              <a:t>Over discounting is a hidden business risk.</a:t>
            </a:r>
          </a:p>
        </p:txBody>
      </p:sp>
    </p:spTree>
    <p:extLst>
      <p:ext uri="{BB962C8B-B14F-4D97-AF65-F5344CB8AC3E}">
        <p14:creationId xmlns:p14="http://schemas.microsoft.com/office/powerpoint/2010/main" val="8085175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8FFB8-20D7-D8BD-CF2E-B5BD15510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actions should the business take based on analysis</a:t>
            </a:r>
            <a:r>
              <a:rPr lang="en-IN" sz="32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 </a:t>
            </a:r>
            <a:br>
              <a:rPr lang="en-US" sz="1800" u="none" strike="noStrike" dirty="0">
                <a:solidFill>
                  <a:srgbClr val="000000"/>
                </a:solidFill>
                <a:effectLst/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8BB4ED-5CA7-AD39-86F3-44F3291CA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Optimize business strategies by reducing heavy discounts on products of low margins.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Focus sales and marketing effort on high profit products and countries such as FRANCE.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Monitor the products of higher sales but low profit to improve cost and margin efficiency.</a:t>
            </a:r>
          </a:p>
          <a:p>
            <a:pPr marL="0" indent="0" algn="just">
              <a:buNone/>
            </a:pPr>
            <a:endParaRPr lang="en-US" sz="2400" dirty="0"/>
          </a:p>
          <a:p>
            <a:r>
              <a:rPr lang="en-US" sz="2400" dirty="0"/>
              <a:t>Protect products with high pricing power such as VTT to maintain profitability.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9295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43316-2990-3F3F-0153-AC63B4FF8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Assumptions and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81C9C-EA69-8867-8EDF-6A0AB2E23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74172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sz="2600" dirty="0"/>
              <a:t>The analysis is based on aggregated monthly data , not individual transactions.</a:t>
            </a:r>
          </a:p>
          <a:p>
            <a:pPr marL="0" indent="0" algn="just">
              <a:buNone/>
            </a:pPr>
            <a:endParaRPr lang="en-US" sz="2600" dirty="0"/>
          </a:p>
          <a:p>
            <a:pPr algn="just"/>
            <a:r>
              <a:rPr lang="en-US" sz="2600" dirty="0"/>
              <a:t>Missing values in discount .</a:t>
            </a:r>
          </a:p>
          <a:p>
            <a:pPr marL="0" indent="0" algn="just">
              <a:buNone/>
            </a:pPr>
            <a:endParaRPr lang="en-US" sz="2600" dirty="0"/>
          </a:p>
          <a:p>
            <a:pPr algn="just"/>
            <a:r>
              <a:rPr lang="en-US" sz="2600" dirty="0"/>
              <a:t>The dataset does not include customer level detail.</a:t>
            </a:r>
          </a:p>
          <a:p>
            <a:pPr marL="0" indent="0" algn="just">
              <a:buNone/>
            </a:pPr>
            <a:endParaRPr lang="en-US" sz="2600" dirty="0"/>
          </a:p>
          <a:p>
            <a:pPr algn="just"/>
            <a:r>
              <a:rPr lang="en-US" sz="2600" dirty="0"/>
              <a:t>Insights are based on historical data and may change with future trends.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211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6E3B8-C45D-4E4C-12A5-22B80A6D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Next steps:</a:t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C0A59-5E78-9349-C3CD-133F8031BC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 customer –level analysis to understand buying behavior.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Build sales and profit forecasting model for future planning.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Track performance regularly using automated dashboards.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675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461</Words>
  <Application>Microsoft Office PowerPoint</Application>
  <PresentationFormat>Widescreen</PresentationFormat>
  <Paragraphs>58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EXECUTIVE DASHBOARD</vt:lpstr>
      <vt:lpstr> What business problem is being solved using this data?  </vt:lpstr>
      <vt:lpstr>What data was provided and at what level (granularity)?  </vt:lpstr>
      <vt:lpstr>SUMMARY: KEY KPIs </vt:lpstr>
      <vt:lpstr>Why these KPI? </vt:lpstr>
      <vt:lpstr>Dashboard Walkthrough</vt:lpstr>
      <vt:lpstr>Cont: </vt:lpstr>
      <vt:lpstr>KEY BUSINESS INSIGHTS</vt:lpstr>
      <vt:lpstr>What actions should the business take based on analysis?  </vt:lpstr>
      <vt:lpstr>Assumptions and Limitations</vt:lpstr>
      <vt:lpstr>Next steps: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RICHA THAKUR</dc:creator>
  <cp:lastModifiedBy>RICHA THAKUR</cp:lastModifiedBy>
  <cp:revision>1</cp:revision>
  <dcterms:created xsi:type="dcterms:W3CDTF">2026-01-21T15:23:03Z</dcterms:created>
  <dcterms:modified xsi:type="dcterms:W3CDTF">2026-01-21T16:20:13Z</dcterms:modified>
</cp:coreProperties>
</file>